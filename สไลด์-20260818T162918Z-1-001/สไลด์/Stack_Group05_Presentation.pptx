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เวลาเฉลี่ยต่อ Action (สเกลเชิงคุณภาพ, ไม่ใช่ข้อมูลจริง)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Algorithm A — O(n)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1,000</c:v>
                  </c:pt>
                  <c:pt idx="2">
                    <c:v>10,000</c:v>
                  </c:pt>
                  <c:pt idx="3">
                    <c:v>50,000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18</c:v>
                </c:pt>
                <c:pt idx="2">
                  <c:v>170</c:v>
                </c:pt>
                <c:pt idx="3">
                  <c:v>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Algorithm B — O(1)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1,000</c:v>
                  </c:pt>
                  <c:pt idx="2">
                    <c:v>10,000</c:v>
                  </c:pt>
                  <c:pt idx="3">
                    <c:v>50,000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2.2</c:v>
                </c:pt>
                <c:pt idx="2">
                  <c:v>2.5</c:v>
                </c:pt>
                <c:pt idx="3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จำนวน Action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20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DE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เวลาสัมพัทธ์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202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2575" y="2331720"/>
            <a:ext cx="2194560" cy="2194560"/>
          </a:xfrm>
          <a:prstGeom prst="ellipse">
            <a:avLst/>
          </a:prstGeom>
          <a:ln w="19050">
            <a:solidFill>
              <a:srgbClr val="990011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73975" y="2103120"/>
            <a:ext cx="2651760" cy="2651760"/>
          </a:xfrm>
          <a:prstGeom prst="ellipse">
            <a:avLst/>
          </a:prstGeom>
          <a:ln w="19050">
            <a:solidFill>
              <a:srgbClr val="2F3C7E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45375" y="1874520"/>
            <a:ext cx="3108960" cy="3108960"/>
          </a:xfrm>
          <a:prstGeom prst="ellipse">
            <a:avLst/>
          </a:prstGeom>
          <a:ln w="19050">
            <a:solidFill>
              <a:srgbClr val="990011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16775" y="1645920"/>
            <a:ext cx="3566160" cy="3566160"/>
          </a:xfrm>
          <a:prstGeom prst="ellipse">
            <a:avLst/>
          </a:prstGeom>
          <a:ln w="19050">
            <a:solidFill>
              <a:srgbClr val="2F3C7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88175" y="1417320"/>
            <a:ext cx="4023360" cy="4023360"/>
          </a:xfrm>
          <a:prstGeom prst="ellipse">
            <a:avLst/>
          </a:prstGeom>
          <a:ln w="19050">
            <a:solidFill>
              <a:srgbClr val="990011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ALGORITHM WORKSHOP  •  GROUP 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Workflow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FC3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Stack และ State Machine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2926080" cy="0"/>
          </a:xfrm>
          <a:prstGeom prst="line">
            <a:avLst/>
          </a:prstGeom>
          <a:noFill/>
          <a:ln w="381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การออกแบบและวิเคราะห์อัลกอริทึมด้วย Stack  •  ภาษา Java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กลุ่มที่ 5  —  ชื่อสมาชิกกลุ่ม (แก้ไขเป็นรายชื่อจริง)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ศูนย์รับแจ้งเหตุฉุกเฉิน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ศูนย์รับแจ้งเหตุฉุกเฉินบันทึกลำดับ Action ของแต่ละ Case ตามขั้นตอนที่ตายตัว ระบบต้องป้องกันไม่ให้เพิ่ม Action ผิดลำดับ และต้องรองรับการแก้ไขข้อผิดพลาดผ่าน Undo และ Redo โดยหากมีการเพิ่ม Action ใหม่หลัง Undo ประวัติ Redo เดิมต้องถูกล้างทิ้งทันที เพื่อไม่ให้เกิด Timeline ที่ขัดแย้งกัน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กฎสำคัญของระบบ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480560"/>
            <a:ext cx="4617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2 ครั้ง → ต้องมี 2 Action อยู่ใน Redo Stack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1 ครั้ง → คืน Action ล่าสุดกลับสู่ Event Stack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Action ใหม่หลัง Redo บางส่วน → ล้าง Redo Stack ทั้งหมด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currentState ต้องตรงกับ Event Stack เสมอหลังทุกคำสั่ง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80" dirty="0"/>
          </a:p>
        </p:txBody>
      </p:sp>
      <p:sp>
        <p:nvSpPr>
          <p:cNvPr id="10" name="Text 8"/>
          <p:cNvSpPr/>
          <p:nvPr/>
        </p:nvSpPr>
        <p:spPr>
          <a:xfrm>
            <a:off x="7360920" y="1709928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514600"/>
            <a:ext cx="0" cy="109728"/>
          </a:xfrm>
          <a:prstGeom prst="line">
            <a:avLst/>
          </a:prstGeom>
          <a:noFill/>
          <a:ln w="19050">
            <a:solidFill>
              <a:srgbClr val="8C7E8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0" y="2624328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80" dirty="0"/>
          </a:p>
        </p:txBody>
      </p:sp>
      <p:sp>
        <p:nvSpPr>
          <p:cNvPr id="14" name="Text 12"/>
          <p:cNvSpPr/>
          <p:nvPr/>
        </p:nvSpPr>
        <p:spPr>
          <a:xfrm>
            <a:off x="7360920" y="255117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3355848"/>
            <a:ext cx="0" cy="109728"/>
          </a:xfrm>
          <a:prstGeom prst="line">
            <a:avLst/>
          </a:prstGeom>
          <a:noFill/>
          <a:ln w="19050">
            <a:solidFill>
              <a:srgbClr val="8C7E8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0" y="3465576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4655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80" dirty="0"/>
          </a:p>
        </p:txBody>
      </p:sp>
      <p:sp>
        <p:nvSpPr>
          <p:cNvPr id="18" name="Text 16"/>
          <p:cNvSpPr/>
          <p:nvPr/>
        </p:nvSpPr>
        <p:spPr>
          <a:xfrm>
            <a:off x="7360920" y="3392424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4197096"/>
            <a:ext cx="0" cy="109728"/>
          </a:xfrm>
          <a:prstGeom prst="line">
            <a:avLst/>
          </a:prstGeom>
          <a:noFill/>
          <a:ln w="19050">
            <a:solidFill>
              <a:srgbClr val="8C7E8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0" y="4306824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068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80" dirty="0"/>
          </a:p>
        </p:txBody>
      </p:sp>
      <p:sp>
        <p:nvSpPr>
          <p:cNvPr id="22" name="Text 20"/>
          <p:cNvSpPr/>
          <p:nvPr/>
        </p:nvSpPr>
        <p:spPr>
          <a:xfrm>
            <a:off x="7360920" y="4233672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SCENE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5038344"/>
            <a:ext cx="0" cy="109728"/>
          </a:xfrm>
          <a:prstGeom prst="line">
            <a:avLst/>
          </a:prstGeom>
          <a:noFill/>
          <a:ln w="19050">
            <a:solidFill>
              <a:srgbClr val="8C7E8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00800" y="5148072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5148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80" dirty="0"/>
          </a:p>
        </p:txBody>
      </p:sp>
      <p:sp>
        <p:nvSpPr>
          <p:cNvPr id="26" name="Text 24"/>
          <p:cNvSpPr/>
          <p:nvPr/>
        </p:nvSpPr>
        <p:spPr>
          <a:xfrm>
            <a:off x="7360920" y="50749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การวิเคราะห์ปัญหา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Input, Output และ Constraints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คำสั่ง ADD พร้อมระบุ ActionType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คำสั่ง UNDO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คำสั่ง REDO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103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21671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สำเร็จ / ถูกปฏิเสธของแต่ละคำสั่ง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currentState ปัจจุบัน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 Event Stack และ Redo Stack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1031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5B465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21671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0" y="28346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ต้องผ่าน Transition Table เท่านั้น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Stack ต้องถูกล้างเมื่อมี Action ใหม่หลัง Undo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1 Case ต่อการรัน 1 รอบ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E3E6"/>
          </a:solidFill>
          <a:ln w="12700">
            <a:solidFill>
              <a:srgbClr val="F3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6692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 </a:t>
            </a:r>
            <a:pPr indent="0" marL="0">
              <a:buNone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พิจารณา 1 Case ต่อการรันโปรแกรม 1 รอบ  ·  </a:t>
            </a:r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Case:  </a:t>
            </a:r>
            <a:pPr indent="0" marL="0">
              <a:buNone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ว่าง, ปิด Case ก่อนถึงที่เกิดเหตุ, Redo เมื่อไม่มีรายการ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การออกแบบอัลกอริทึม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Stack Method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5669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92640" y="1115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 ACTION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แนวคิดหลัก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ไม่เก็บ currentState แยกต่างหาก ทุกครั้งที่ต้องตรวจสอบ Action ใหม่ อัลกอริทึมจะไล่สแกน Event Stack ทั้งหมดผ่าน Transition Table เพื่อคำนวณสถานะปัจจุบันใหม่ทุกครั้ง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241938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46634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temp ← empty stack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state ← NEW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WHILE eventStack not empty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   temp.push(eventStack.pop())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WHILE temp not empty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   action ← temp.pop()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    state ← Transition(state, action)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    eventStack.push(action)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next ← Transition(state, newAction)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IF next = NULL: RETURN false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 eventStack.push(newAction)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 CLEAR redoStack; RETURN true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87452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ข้อดี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โครงสร้างเรียบง่าย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เดียว (Event Stack)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State ซ้ำซ้อนที่ต้องดูแลให้ตรงกัน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4251960"/>
            <a:ext cx="2286000" cy="0"/>
          </a:xfrm>
          <a:prstGeom prst="line">
            <a:avLst/>
          </a:prstGeom>
          <a:noFill/>
          <a:ln w="12700">
            <a:solidFill>
              <a:srgbClr val="E7DE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ข้อจำกัด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47091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Action ใหม่ช้าลงเมื่อ Stack ยาวขึ้น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 currentState ต้อง scan ทั้ง Stack ทุกครั้ง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1874520"/>
            <a:ext cx="2697480" cy="4526280"/>
          </a:xfrm>
          <a:prstGeom prst="roundRect">
            <a:avLst>
              <a:gd name="adj" fmla="val 2712"/>
            </a:avLst>
          </a:prstGeom>
          <a:solidFill>
            <a:srgbClr val="2F3C7E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2331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144000" y="2971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Stack ระหว่างคำนวณ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0" y="3794760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44000" y="4800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push/pop เดี่ยวจากปลาย Stack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การออกแบบอัลกอริทึม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Stack ร่วมกับ State Machine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5669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92640" y="1115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 ACTION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แนวคิดหลัก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currentState เป็นตัวแปร cache เดียว อัปเดตพร้อมกับทุก push/pop จึงตรวจสอบ Action ใหม่ได้จาก Transition Table โดยตรงแบบทันที ไม่ต้องคำนวณใหม่จากศูนย์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241938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46634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next ← Transition(currentState, newAction)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IF next = NULL: RETURN false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eventStack.push(newAction)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currentState ← next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CLEAR redoStack; RETURN true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IF eventStack empty: RETURN false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last ← eventStack.pop()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redoStack.push(last)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currentState ← PrevState(currentState, last)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874520"/>
            <a:ext cx="2743200" cy="4526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ข้อดี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 Action และอ่านสถานะที่ O(1)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เหมาะกับระบบ Real-time ที่มี Action จำนวนมาก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4251960"/>
            <a:ext cx="2286000" cy="0"/>
          </a:xfrm>
          <a:prstGeom prst="line">
            <a:avLst/>
          </a:prstGeom>
          <a:noFill/>
          <a:ln w="12700">
            <a:solidFill>
              <a:srgbClr val="E7DE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ข้อจำกัด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47091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ต้องรักษา Invariant ระหว่าง currentState กับ Event Stack ให้ตรงกันเสมอในทุกจุดของโค้ด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1874520"/>
            <a:ext cx="2697480" cy="4526280"/>
          </a:xfrm>
          <a:prstGeom prst="roundRect">
            <a:avLst>
              <a:gd name="adj" fmla="val 2712"/>
            </a:avLst>
          </a:prstGeom>
          <a:solidFill>
            <a:srgbClr val="990011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2331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O(1)*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144000" y="2971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เพิ่มเติมจาก Event/Redo Stack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0" y="3794760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44000" y="4800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push/pop เดี่ยวจากปลาย Stack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ตัวอย่างการทำงาน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Step-by-step: Undo → Redo → Action ใหม่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เริ่มต้น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Stack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2651760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EDE3E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517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3090672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EDE3E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09067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85800" y="3529584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EDE3E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5295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493776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Stack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06624" y="178308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06624" y="1920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43784" y="237744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43784" y="2651760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EDE3E6"/>
          </a:solidFill>
          <a:ln/>
        </p:spPr>
      </p:sp>
      <p:sp>
        <p:nvSpPr>
          <p:cNvPr id="18" name="Text 16"/>
          <p:cNvSpPr/>
          <p:nvPr/>
        </p:nvSpPr>
        <p:spPr>
          <a:xfrm>
            <a:off x="2843784" y="26517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843784" y="3090672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EDE3E6"/>
          </a:solidFill>
          <a:ln/>
        </p:spPr>
      </p:sp>
      <p:sp>
        <p:nvSpPr>
          <p:cNvPr id="20" name="Text 18"/>
          <p:cNvSpPr/>
          <p:nvPr/>
        </p:nvSpPr>
        <p:spPr>
          <a:xfrm>
            <a:off x="2843784" y="309067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843784" y="493776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Stack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43784" y="5193792"/>
            <a:ext cx="1810512" cy="292608"/>
          </a:xfrm>
          <a:prstGeom prst="roundRect">
            <a:avLst>
              <a:gd name="adj" fmla="val 12500"/>
            </a:avLst>
          </a:prstGeom>
          <a:solidFill>
            <a:srgbClr val="F3E3E6"/>
          </a:solidFill>
          <a:ln/>
        </p:spPr>
      </p:sp>
      <p:sp>
        <p:nvSpPr>
          <p:cNvPr id="23" name="Text 21"/>
          <p:cNvSpPr/>
          <p:nvPr/>
        </p:nvSpPr>
        <p:spPr>
          <a:xfrm>
            <a:off x="2843784" y="51937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DISPATCHED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864608" y="178308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1920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01768" y="237744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Stack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01768" y="2651760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EDE3E6"/>
          </a:solidFill>
          <a:ln/>
        </p:spPr>
      </p:sp>
      <p:sp>
        <p:nvSpPr>
          <p:cNvPr id="28" name="Text 26"/>
          <p:cNvSpPr/>
          <p:nvPr/>
        </p:nvSpPr>
        <p:spPr>
          <a:xfrm>
            <a:off x="5001768" y="26517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01768" y="493776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Stack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01768" y="5193792"/>
            <a:ext cx="1810512" cy="292608"/>
          </a:xfrm>
          <a:prstGeom prst="roundRect">
            <a:avLst>
              <a:gd name="adj" fmla="val 12500"/>
            </a:avLst>
          </a:prstGeom>
          <a:solidFill>
            <a:srgbClr val="F3E3E6"/>
          </a:solidFill>
          <a:ln/>
        </p:spPr>
      </p:sp>
      <p:sp>
        <p:nvSpPr>
          <p:cNvPr id="31" name="Text 29"/>
          <p:cNvSpPr/>
          <p:nvPr/>
        </p:nvSpPr>
        <p:spPr>
          <a:xfrm>
            <a:off x="5001768" y="51937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DISPATCHED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001768" y="5522976"/>
            <a:ext cx="1810512" cy="292608"/>
          </a:xfrm>
          <a:prstGeom prst="roundRect">
            <a:avLst>
              <a:gd name="adj" fmla="val 12500"/>
            </a:avLst>
          </a:prstGeom>
          <a:solidFill>
            <a:srgbClr val="F3E3E6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552297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ASSIGNED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022592" y="178308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22592" y="1920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59752" y="237744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Stack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59752" y="2651760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EDE3E6"/>
          </a:solidFill>
          <a:ln/>
        </p:spPr>
      </p:sp>
      <p:sp>
        <p:nvSpPr>
          <p:cNvPr id="38" name="Text 36"/>
          <p:cNvSpPr/>
          <p:nvPr/>
        </p:nvSpPr>
        <p:spPr>
          <a:xfrm>
            <a:off x="7159752" y="26517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159752" y="3090672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EDE3E6"/>
          </a:solidFill>
          <a:ln/>
        </p:spPr>
      </p:sp>
      <p:sp>
        <p:nvSpPr>
          <p:cNvPr id="40" name="Text 38"/>
          <p:cNvSpPr/>
          <p:nvPr/>
        </p:nvSpPr>
        <p:spPr>
          <a:xfrm>
            <a:off x="7159752" y="309067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159752" y="493776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Stack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159752" y="5193792"/>
            <a:ext cx="1810512" cy="292608"/>
          </a:xfrm>
          <a:prstGeom prst="roundRect">
            <a:avLst>
              <a:gd name="adj" fmla="val 12500"/>
            </a:avLst>
          </a:prstGeom>
          <a:solidFill>
            <a:srgbClr val="F3E3E6"/>
          </a:solidFill>
          <a:ln/>
        </p:spPr>
      </p:sp>
      <p:sp>
        <p:nvSpPr>
          <p:cNvPr id="43" name="Text 41"/>
          <p:cNvSpPr/>
          <p:nvPr/>
        </p:nvSpPr>
        <p:spPr>
          <a:xfrm>
            <a:off x="7159752" y="51937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DISPATCHED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180576" y="178308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2F1420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180576" y="192024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ใหม่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317736" y="2377440"/>
            <a:ext cx="1810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Stack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317736" y="2651760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44223A"/>
          </a:solidFill>
          <a:ln/>
        </p:spPr>
      </p:sp>
      <p:sp>
        <p:nvSpPr>
          <p:cNvPr id="48" name="Text 46"/>
          <p:cNvSpPr/>
          <p:nvPr/>
        </p:nvSpPr>
        <p:spPr>
          <a:xfrm>
            <a:off x="9317736" y="26517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DISPATCHED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317736" y="3090672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44223A"/>
          </a:solidFill>
          <a:ln/>
        </p:spPr>
      </p:sp>
      <p:sp>
        <p:nvSpPr>
          <p:cNvPr id="50" name="Text 48"/>
          <p:cNvSpPr/>
          <p:nvPr/>
        </p:nvSpPr>
        <p:spPr>
          <a:xfrm>
            <a:off x="9317736" y="309067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317736" y="3529584"/>
            <a:ext cx="1810512" cy="384048"/>
          </a:xfrm>
          <a:prstGeom prst="roundRect">
            <a:avLst>
              <a:gd name="adj" fmla="val 9524"/>
            </a:avLst>
          </a:prstGeom>
          <a:solidFill>
            <a:srgbClr val="44223A"/>
          </a:solidFill>
          <a:ln/>
        </p:spPr>
      </p:sp>
      <p:sp>
        <p:nvSpPr>
          <p:cNvPr id="52" name="Text 50"/>
          <p:cNvSpPr/>
          <p:nvPr/>
        </p:nvSpPr>
        <p:spPr>
          <a:xfrm>
            <a:off x="9317736" y="35295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317736" y="493776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Stack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317736" y="5193792"/>
            <a:ext cx="1810512" cy="292608"/>
          </a:xfrm>
          <a:prstGeom prst="roundRect">
            <a:avLst>
              <a:gd name="adj" fmla="val 12500"/>
            </a:avLst>
          </a:prstGeom>
          <a:solidFill>
            <a:srgbClr val="990011"/>
          </a:solidFill>
          <a:ln/>
        </p:spPr>
      </p:sp>
      <p:sp>
        <p:nvSpPr>
          <p:cNvPr id="55" name="Text 53"/>
          <p:cNvSpPr/>
          <p:nvPr/>
        </p:nvSpPr>
        <p:spPr>
          <a:xfrm>
            <a:off x="9317736" y="519379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ล้างทิ้ง!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currentState หลังแต่ละ Step:  DISPATCHED  →  ASSIGNED  →  RECEIVED  →  ASSIGNED  →  DISPATCHED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การพิสูจน์ความถูกต้อง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Precondition · Invariant · Postcondition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 — Event Stack + State Machine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352044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ก่อนเริ่ม: currentState = NEW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Stack และ Redo Stack ว่างเปล่าทั้งคู่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920240"/>
            <a:ext cx="3520440" cy="5029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20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6060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currentState เท่ากับสถานะที่ได้จากการไล่ Action ทั้งหมดใน Event Stack ตั้งแต่ Bottom ถึง Top ผ่าน Transition Table เริ่มจาก NEW เสมอ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920240"/>
            <a:ext cx="3520440" cy="502920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9202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POSTCONDITION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26060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เมื่อหยุดทำงาน currentState ยังคงตรงกับ Event Stack เสมอ ไม่มี Action สูญหายหรือสลับลำดับ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201400" cy="2148840"/>
          </a:xfrm>
          <a:prstGeom prst="roundRect">
            <a:avLst>
              <a:gd name="adj" fmla="val 3404"/>
            </a:avLst>
          </a:prstGeom>
          <a:solidFill>
            <a:srgbClr val="F3E3E6"/>
          </a:solidFill>
          <a:ln w="12700">
            <a:solidFill>
              <a:srgbClr val="F3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&amp; Termination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800600"/>
            <a:ext cx="10561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ทุกครั้งที่ addAction() สำเร็จ จะ push เฉพาะ Action ที่ผ่าน Transition(currentState, action) แล้วเท่านั้น พร้อมอัปเดต currentState ทันที — Invariant จึงยังคงเป็นจริงเสมอ ในทำนองเดียวกัน undo() จะ pop และคำนวณสถานะก่อนหน้าให้ตรงกับ Action ที่เหลือ ทุก Operation เป็นการทำงานจำนวนจำกัดครั้ง (ไม่มี Loop ไม่รู้จบ) จึงรับประกันว่าอัลกอริทึมหยุดทำงานได้เสมอ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การวิเคราะห์ประสิทธิภาพ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Big-O Analysis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675120" cy="338328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addAction()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getCurrentState()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A20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Auxiliary 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00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 ชั่วคราว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7A4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 เพิ่มเติม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หมายเหตุ: ห้ามระบุเพียงว่า push()/pop() เป็น O(1) โดยไม่วิเคราะห์ทั้งฟังก์ชัน — Algorithm A เรียก push/pop เป็นชุด n ครั้ง ภายใน deriveCurrentState() ทุกครั้งที่ addAction() ถูกเรียก จึงทำให้ Complexity โดยรวมของฟังก์ชันเป็น O(n)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543800" y="1828800"/>
            <a:ext cx="4069080" cy="4572000"/>
          </a:xfrm>
          <a:prstGeom prst="roundRect">
            <a:avLst>
              <a:gd name="adj" fmla="val 1798"/>
            </a:avLst>
          </a:prstGeom>
          <a:solidFill>
            <a:srgbClr val="1B1024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2057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เหตุใด Time Complexity ต่างกัน?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18120" y="269748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 ไม่มี currentState จึงต้อง 'ค้นหา' Event Stack ทั้งหมดทุกครั้งที่ต้องรู้สถานะปัจจุบัน ด้วยการ pop ทุกตัวไปพักใน Temporary Stack แล้ว push กลับ — ต้นทุนเพิ่มเป็นเส้นตรงตามจำนวน Action สะสม (n)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 เก็บผลลัพธ์ของ Transition Table ไว้ล่วงหน้าในตัวแปรเดียว การตรวจสอบ Action ใหม่จึงเป็นการ lookup ครั้งเดียว ไม่ขึ้นกับขนาด Stack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การพัฒนาโปรแกรม 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โครงสร้างคลาสและ Implementation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80560" y="178308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1783080"/>
            <a:ext cx="3200400" cy="29260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1783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EmergencyWorkflow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0" y="2093976"/>
            <a:ext cx="3200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306324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063240"/>
            <a:ext cx="2834640" cy="29260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30632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68880" y="3374136"/>
            <a:ext cx="28346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Stack Only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306324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3063240"/>
            <a:ext cx="2834640" cy="29260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30632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0" y="3374136"/>
            <a:ext cx="28346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State Machine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5B46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617720"/>
            <a:ext cx="2468880" cy="292608"/>
          </a:xfrm>
          <a:prstGeom prst="rect">
            <a:avLst/>
          </a:prstGeom>
          <a:solidFill>
            <a:srgbClr val="5B465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17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TransitionTable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928616"/>
            <a:ext cx="24688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46177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5B46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4617720"/>
            <a:ext cx="2286000" cy="292608"/>
          </a:xfrm>
          <a:prstGeom prst="rect">
            <a:avLst/>
          </a:prstGeom>
          <a:solidFill>
            <a:srgbClr val="5B4650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46177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EventAction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4928616"/>
            <a:ext cx="2286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461772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5B46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4617720"/>
            <a:ext cx="2194560" cy="292608"/>
          </a:xfrm>
          <a:prstGeom prst="rect">
            <a:avLst/>
          </a:prstGeom>
          <a:solidFill>
            <a:srgbClr val="5B4650"/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46177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06440" y="4928616"/>
            <a:ext cx="21945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75320" y="461772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5B46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4617720"/>
            <a:ext cx="2651760" cy="292608"/>
          </a:xfrm>
          <a:prstGeom prst="rect">
            <a:avLst/>
          </a:prstGeom>
          <a:solidFill>
            <a:srgbClr val="5B4650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6177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PerformanceTest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75320" y="4928616"/>
            <a:ext cx="26517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 flipV="1">
            <a:off x="3886200" y="2560320"/>
            <a:ext cx="2194560" cy="502920"/>
          </a:xfrm>
          <a:prstGeom prst="line">
            <a:avLst/>
          </a:prstGeom>
          <a:noFill/>
          <a:ln w="12700">
            <a:solidFill>
              <a:srgbClr val="C9BEC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2560320"/>
            <a:ext cx="2194560" cy="502920"/>
          </a:xfrm>
          <a:prstGeom prst="line">
            <a:avLst/>
          </a:prstGeom>
          <a:noFill/>
          <a:ln w="12700">
            <a:solidFill>
              <a:srgbClr val="C9BE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783080" y="3840480"/>
            <a:ext cx="2103120" cy="777240"/>
          </a:xfrm>
          <a:prstGeom prst="line">
            <a:avLst/>
          </a:prstGeom>
          <a:noFill/>
          <a:ln w="12700">
            <a:solidFill>
              <a:srgbClr val="C9BEC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86200" y="3840480"/>
            <a:ext cx="502920" cy="777240"/>
          </a:xfrm>
          <a:prstGeom prst="line">
            <a:avLst/>
          </a:prstGeom>
          <a:noFill/>
          <a:ln w="12700">
            <a:solidFill>
              <a:srgbClr val="C9BEC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6903720" y="3840480"/>
            <a:ext cx="1371600" cy="777240"/>
          </a:xfrm>
          <a:prstGeom prst="line">
            <a:avLst/>
          </a:prstGeom>
          <a:noFill/>
          <a:ln w="12700">
            <a:solidFill>
              <a:srgbClr val="C9BEC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3840480"/>
            <a:ext cx="1325880" cy="777240"/>
          </a:xfrm>
          <a:prstGeom prst="line">
            <a:avLst/>
          </a:prstGeom>
          <a:noFill/>
          <a:ln w="12700">
            <a:solidFill>
              <a:srgbClr val="C9BEC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62356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241938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57607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Deque&lt;EventAction&gt; eventStack = new ArrayDeque&lt;&gt;();  </a:t>
            </a:r>
            <a:pPr indent="0" marL="0">
              <a:buNone/>
            </a:pPr>
            <a:r>
              <a:rPr lang="en-US" sz="1150" dirty="0">
                <a:solidFill>
                  <a:srgbClr val="8C7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ใน AlgorithmA / AlgorithmB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ok = workflow.addAction(ActionType.CALL_RECEIVED);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ชุดทดสอบ 10 กรณี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ถูกต้องตั้งแต่เริ่มจนจบ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74920" y="2029968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20299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72491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72491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Action ผิดลำดับ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4920" y="292608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29260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62102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3621024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 Case ก่อนถึงที่เกิดเหตุ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38221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8221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451713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517136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451713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หนึ่งครั้ง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4920" y="4718304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4718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541324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41324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00200" y="541324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หลายครั้ง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5614416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5614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18288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1828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TC06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78040" y="1828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บางส่วน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652760" y="2029968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3" name="Text 31"/>
          <p:cNvSpPr/>
          <p:nvPr/>
        </p:nvSpPr>
        <p:spPr>
          <a:xfrm>
            <a:off x="10652760" y="20299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2724912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72491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TC07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178040" y="272491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Action ใหม่หลัง Redo บางส่วน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652760" y="292608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9B7A1F"/>
          </a:solidFill>
          <a:ln/>
        </p:spPr>
      </p:sp>
      <p:sp>
        <p:nvSpPr>
          <p:cNvPr id="38" name="Text 36"/>
          <p:cNvSpPr/>
          <p:nvPr/>
        </p:nvSpPr>
        <p:spPr>
          <a:xfrm>
            <a:off x="10652760" y="29260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6480" y="3621024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9360" y="362102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TC08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178040" y="3621024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จน Stack ว่าง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652760" y="38221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5B4650"/>
          </a:solidFill>
          <a:ln/>
        </p:spPr>
      </p:sp>
      <p:sp>
        <p:nvSpPr>
          <p:cNvPr id="43" name="Text 41"/>
          <p:cNvSpPr/>
          <p:nvPr/>
        </p:nvSpPr>
        <p:spPr>
          <a:xfrm>
            <a:off x="10652760" y="38221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26480" y="4517136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09360" y="4517136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TC09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178040" y="4517136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เมื่อไม่มีรายการ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652760" y="4718304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5B4650"/>
          </a:solidFill>
          <a:ln/>
        </p:spPr>
      </p:sp>
      <p:sp>
        <p:nvSpPr>
          <p:cNvPr id="48" name="Text 46"/>
          <p:cNvSpPr/>
          <p:nvPr/>
        </p:nvSpPr>
        <p:spPr>
          <a:xfrm>
            <a:off x="10652760" y="4718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26480" y="5413248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7DEE0"/>
            </a:solidFill>
            <a:prstDash val="solid"/>
          </a:ln>
          <a:effectLst>
            <a:outerShdw sx="100000" sy="100000" kx="0" ky="0" algn="bl" rotWithShape="0" blurRad="101600" dist="38100" dir="5400000">
              <a:srgbClr val="5A455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09360" y="541324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7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TC10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178040" y="541324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Action หลังปิด Case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652760" y="5614416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53" name="Text 51"/>
          <p:cNvSpPr/>
          <p:nvPr/>
        </p:nvSpPr>
        <p:spPr>
          <a:xfrm>
            <a:off x="10652760" y="56144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ผลการทดลอง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0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แนวโน้มเวลาที่คาดหวัง (Expected Trend)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737360"/>
            <a:ext cx="4069080" cy="3931920"/>
          </a:xfrm>
          <a:prstGeom prst="roundRect">
            <a:avLst>
              <a:gd name="adj" fmla="val 1860"/>
            </a:avLst>
          </a:prstGeom>
          <a:solidFill>
            <a:srgbClr val="F3E3E6"/>
          </a:solidFill>
          <a:ln w="12700">
            <a:solidFill>
              <a:srgbClr val="F3E3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ออกแบบการทดลอง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18120" y="237744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 / 1,000 / 10,000 / 50,000 Action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รอบต่อขนาด แล้วบันทึกค่าเฉลี่ย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วัดด้วย System.nanoTime()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บันทึกจำนวน push / pop / comparisons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รันได้จาก experiments/PerformanceTest.java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A2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ผลลัพธ์จริงถูกบันทึกลง results/experiment_results.csv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กราฟด้านซ้ายแสดงแนวโน้มเชิงทฤษฎีตาม Big-O เท่านั้น ต้องรันโปรแกรมจริงเพื่อแทนที่ด้วยข้อมูลจากการทดลองก่อนส่งงาน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สรุปและวิธีที่กลุ่มเลือก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4114800" cy="594360"/>
          </a:xfrm>
          <a:prstGeom prst="roundRect">
            <a:avLst>
              <a:gd name="adj" fmla="val 50769"/>
            </a:avLst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002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กลุ่มเลือกใช้  Algorithm 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14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เหตุผล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Workflow ต้องตรวจสอบ Action และอ่านสถานะรวดเร็ว (O(1)) โดยเฉพาะเมื่อมี Action สะสมจำนวนมาก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3566160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ข้อจำกัด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ต้องดูแล Invariant ระหว่าง currentState กับ Event Stack ให้ตรงกันเสมอในทุกจุดของโค้ด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4617720"/>
            <a:ext cx="128016" cy="82296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แนวทางพัฒนาต่อ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9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รองรับหลาย Case พร้อมกัน, บันทึก Event Log ถาวรแยกจาก Working Stack, เพิ่ม Runtime Assertion ตรวจ Invariant อัตโนมัติ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5166360" cy="4572000"/>
          </a:xfrm>
          <a:prstGeom prst="roundRect">
            <a:avLst>
              <a:gd name="adj" fmla="val 1600"/>
            </a:avLst>
          </a:prstGeom>
          <a:solidFill>
            <a:srgbClr val="241938"/>
          </a:solidFill>
          <a:ln w="12700">
            <a:solidFill>
              <a:srgbClr val="2419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Recap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2084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78440" y="23317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2743200"/>
            <a:ext cx="4572000" cy="0"/>
          </a:xfrm>
          <a:prstGeom prst="line">
            <a:avLst/>
          </a:prstGeom>
          <a:noFill/>
          <a:ln w="12700">
            <a:solidFill>
              <a:srgbClr val="3A2C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816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addAction()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0" y="281635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78440" y="281635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3246120"/>
            <a:ext cx="4572000" cy="0"/>
          </a:xfrm>
          <a:prstGeom prst="line">
            <a:avLst/>
          </a:prstGeom>
          <a:noFill/>
          <a:ln w="12700">
            <a:solidFill>
              <a:srgbClr val="3A2C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3192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getCurrentState()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33192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378440" y="331927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3749040"/>
            <a:ext cx="4572000" cy="0"/>
          </a:xfrm>
          <a:prstGeom prst="line">
            <a:avLst/>
          </a:prstGeom>
          <a:noFill/>
          <a:ln w="12700">
            <a:solidFill>
              <a:srgbClr val="3A2C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8221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undo() / redo()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38221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378440" y="382219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5532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ขอบคุณครับ / ค่ะ  —  พร้อมตอบคำถาม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2026-08-17T06:49:48Z</dcterms:created>
  <dcterms:modified xsi:type="dcterms:W3CDTF">2026-08-17T06:49:48Z</dcterms:modified>
</cp:coreProperties>
</file>